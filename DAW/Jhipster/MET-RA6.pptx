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erriweather"/>
      <p:regular r:id="rId14"/>
      <p:bold r:id="rId15"/>
      <p:italic r:id="rId16"/>
      <p:boldItalic r:id="rId17"/>
    </p:embeddedFont>
    <p:embeddedFont>
      <p:font typeface="Comforta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.fntdata"/><Relationship Id="rId14" Type="http://schemas.openxmlformats.org/officeDocument/2006/relationships/font" Target="fonts/Merriweather-regular.fntdata"/><Relationship Id="rId17" Type="http://schemas.openxmlformats.org/officeDocument/2006/relationships/font" Target="fonts/Merriweather-boldItalic.fntdata"/><Relationship Id="rId16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bold.fntdata"/><Relationship Id="rId6" Type="http://schemas.openxmlformats.org/officeDocument/2006/relationships/slide" Target="slides/slide1.xml"/><Relationship Id="rId18" Type="http://schemas.openxmlformats.org/officeDocument/2006/relationships/font" Target="fonts/Comforta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48dc0832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48dc0832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48dc08328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48dc08328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48dc08328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48dc08328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48dc08328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48dc08328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48dc08328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48dc08328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48dc08328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48dc08328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48dc08328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48dc08328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25882" l="26313" r="0" t="19902"/>
          <a:stretch/>
        </p:blipFill>
        <p:spPr>
          <a:xfrm>
            <a:off x="1572238" y="26650"/>
            <a:ext cx="5999524" cy="147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737" y="1425988"/>
            <a:ext cx="2731178" cy="2731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950" y="1793038"/>
            <a:ext cx="2223819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1872" y="1793046"/>
            <a:ext cx="1997050" cy="19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56100" y="389125"/>
            <a:ext cx="1429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Índice</a:t>
            </a:r>
            <a:r>
              <a:rPr b="1" lang="es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b="1" sz="2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3" name="Google Shape;63;p14"/>
          <p:cNvSpPr/>
          <p:nvPr/>
        </p:nvSpPr>
        <p:spPr>
          <a:xfrm rot="-5400000">
            <a:off x="8280300" y="4279800"/>
            <a:ext cx="902700" cy="824700"/>
          </a:xfrm>
          <a:prstGeom prst="rtTriangle">
            <a:avLst/>
          </a:prstGeom>
          <a:solidFill>
            <a:srgbClr val="425B5E"/>
          </a:solidFill>
          <a:ln cap="flat" cmpd="sng" w="9525">
            <a:solidFill>
              <a:srgbClr val="527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96467"/>
                </a:solidFill>
              </a:rPr>
              <a:t>MJET</a:t>
            </a:r>
            <a:endParaRPr>
              <a:solidFill>
                <a:srgbClr val="496467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136700" y="1098100"/>
            <a:ext cx="5424900" cy="2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Instalación y configuración</a:t>
            </a: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Menú</a:t>
            </a: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JHipster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¿Para </a:t>
            </a: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qué</a:t>
            </a: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sirve un JDL?.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Conclusión.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rot="-5400000">
            <a:off x="8280300" y="4279800"/>
            <a:ext cx="902700" cy="824700"/>
          </a:xfrm>
          <a:prstGeom prst="rtTriangle">
            <a:avLst/>
          </a:prstGeom>
          <a:solidFill>
            <a:srgbClr val="425B5E"/>
          </a:solidFill>
          <a:ln cap="flat" cmpd="sng" w="9525">
            <a:solidFill>
              <a:srgbClr val="527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96467"/>
                </a:solidFill>
              </a:rPr>
              <a:t>MJET</a:t>
            </a:r>
            <a:endParaRPr>
              <a:solidFill>
                <a:srgbClr val="496467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18850" y="324075"/>
            <a:ext cx="5424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Instalación y configuración.</a:t>
            </a:r>
            <a:endParaRPr b="1" sz="26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078050" y="1015750"/>
            <a:ext cx="69879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</a:t>
            </a:r>
            <a:r>
              <a:rPr b="1" lang="e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endParaRPr b="1"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Verificamos que tenemos instalado mínimo la versión</a:t>
            </a:r>
            <a:r>
              <a:rPr b="1"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17 de Java.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Necesitamos tener instalado </a:t>
            </a:r>
            <a:r>
              <a:rPr b="1"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Verificamos que tenemos instalado </a:t>
            </a:r>
            <a:r>
              <a:rPr b="1"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y mínimo la versión 18</a:t>
            </a: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750" y="2640725"/>
            <a:ext cx="4019550" cy="2105025"/>
          </a:xfrm>
          <a:prstGeom prst="rect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5"/>
          <p:cNvSpPr txBox="1"/>
          <p:nvPr/>
        </p:nvSpPr>
        <p:spPr>
          <a:xfrm>
            <a:off x="412375" y="2640725"/>
            <a:ext cx="35808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Una vez verificamos que todo </a:t>
            </a:r>
            <a:r>
              <a:rPr lang="es" sz="1800">
                <a:solidFill>
                  <a:schemeClr val="dk1"/>
                </a:solidFill>
              </a:rPr>
              <a:t>esté</a:t>
            </a:r>
            <a:r>
              <a:rPr lang="es" sz="1800">
                <a:solidFill>
                  <a:schemeClr val="dk1"/>
                </a:solidFill>
              </a:rPr>
              <a:t> instalado, escribimos el siguiente comando: </a:t>
            </a:r>
            <a:r>
              <a:rPr b="1" lang="es" sz="1800">
                <a:solidFill>
                  <a:schemeClr val="dk1"/>
                </a:solidFill>
              </a:rPr>
              <a:t>npm i -g </a:t>
            </a:r>
            <a:r>
              <a:rPr lang="es" sz="1800">
                <a:solidFill>
                  <a:schemeClr val="dk1"/>
                </a:solidFill>
              </a:rPr>
              <a:t>generator-jhipster@8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259300" y="31275"/>
            <a:ext cx="38847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</a:rPr>
              <a:t>NOTA!. Es importante que creemos esto en el fichero que deseemos que este nuestro JHipster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 rot="-5400000">
            <a:off x="8280300" y="4279800"/>
            <a:ext cx="902700" cy="824700"/>
          </a:xfrm>
          <a:prstGeom prst="rtTriangle">
            <a:avLst/>
          </a:prstGeom>
          <a:solidFill>
            <a:srgbClr val="425B5E"/>
          </a:solidFill>
          <a:ln cap="flat" cmpd="sng" w="9525">
            <a:solidFill>
              <a:srgbClr val="527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96467"/>
                </a:solidFill>
              </a:rPr>
              <a:t>MJET</a:t>
            </a:r>
            <a:endParaRPr>
              <a:solidFill>
                <a:srgbClr val="496467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75" y="219750"/>
            <a:ext cx="6616376" cy="47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875" y="881538"/>
            <a:ext cx="865822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350" y="514350"/>
            <a:ext cx="763905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 rot="-5400000">
            <a:off x="8280300" y="4279800"/>
            <a:ext cx="902700" cy="824700"/>
          </a:xfrm>
          <a:prstGeom prst="rtTriangle">
            <a:avLst/>
          </a:prstGeom>
          <a:solidFill>
            <a:srgbClr val="425B5E"/>
          </a:solidFill>
          <a:ln cap="flat" cmpd="sng" w="9525">
            <a:solidFill>
              <a:srgbClr val="527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96467"/>
                </a:solidFill>
              </a:rPr>
              <a:t>MJET</a:t>
            </a:r>
            <a:endParaRPr>
              <a:solidFill>
                <a:srgbClr val="496467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18850" y="324075"/>
            <a:ext cx="5424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Menú</a:t>
            </a:r>
            <a:r>
              <a:rPr b="1" lang="es" sz="26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de inicio</a:t>
            </a:r>
            <a:r>
              <a:rPr b="1" lang="es" sz="26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b="1" sz="26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08575" y="939150"/>
            <a:ext cx="8039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 vez Abierto podemos iniciar como administradores siendo el usuario admin y la contraseña admin, ademas, tenemos un usuario con menos permisos con el nombre de user y contraseña user.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18125" y="2936100"/>
            <a:ext cx="8105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Dentro de </a:t>
            </a: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</a:t>
            </a: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sección podemos monitorear lo que estamos haciendo dentro de nuestro JHipster, además de gestionar usuarios, cambiar nuestra configuración, ver las APIs y lo más importante gestionar nuestra base de datos.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También podemos intercalar entre el inglés y el español para más comodidad a la hora de gestionar cosas dentro de nuestro JHipster.</a:t>
            </a:r>
            <a:endParaRPr sz="1900"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75" y="1357313"/>
            <a:ext cx="4924425" cy="2676525"/>
          </a:xfrm>
          <a:prstGeom prst="rect">
            <a:avLst/>
          </a:prstGeom>
          <a:noFill/>
          <a:ln cap="flat" cmpd="sng" w="25400">
            <a:solidFill>
              <a:srgbClr val="3D85C6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 rot="-5400000">
            <a:off x="8280300" y="4279800"/>
            <a:ext cx="902700" cy="824700"/>
          </a:xfrm>
          <a:prstGeom prst="rtTriangle">
            <a:avLst/>
          </a:prstGeom>
          <a:solidFill>
            <a:srgbClr val="425B5E"/>
          </a:solidFill>
          <a:ln cap="flat" cmpd="sng" w="9525">
            <a:solidFill>
              <a:srgbClr val="527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96467"/>
                </a:solidFill>
              </a:rPr>
              <a:t>MJET</a:t>
            </a:r>
            <a:endParaRPr>
              <a:solidFill>
                <a:srgbClr val="496467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18850" y="324075"/>
            <a:ext cx="5424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¿Para qué sirve un JDL</a:t>
            </a:r>
            <a:endParaRPr b="1" sz="26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923400" y="1017175"/>
            <a:ext cx="72972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Ahora vamos a crear un </a:t>
            </a:r>
            <a:r>
              <a:rPr b="1"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JHipster Domain language. </a:t>
            </a: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Tiene como fin el poder definir nuestras aplicaciones y despliegues con sus relaciones en un solo archivo.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hacerlo vamos a usar JDL-Studio.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hacer uso del JDL Necesitamos hacernos una cuenta dentro de ella, creamos el siguiente código:</a:t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400050"/>
            <a:ext cx="5734050" cy="4343400"/>
          </a:xfrm>
          <a:prstGeom prst="rect">
            <a:avLst/>
          </a:prstGeom>
          <a:noFill/>
          <a:ln cap="flat" cmpd="sng" w="25400">
            <a:solidFill>
              <a:srgbClr val="3D85C6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/>
          <p:nvPr/>
        </p:nvSpPr>
        <p:spPr>
          <a:xfrm rot="-5400000">
            <a:off x="8280300" y="4279800"/>
            <a:ext cx="902700" cy="824700"/>
          </a:xfrm>
          <a:prstGeom prst="rtTriangle">
            <a:avLst/>
          </a:prstGeom>
          <a:solidFill>
            <a:srgbClr val="425B5E"/>
          </a:solidFill>
          <a:ln cap="flat" cmpd="sng" w="9525">
            <a:solidFill>
              <a:srgbClr val="527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96467"/>
                </a:solidFill>
              </a:rPr>
              <a:t>MJET</a:t>
            </a:r>
            <a:endParaRPr>
              <a:solidFill>
                <a:srgbClr val="496467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218850" y="324075"/>
            <a:ext cx="5424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¿Para qué sirve un JDL</a:t>
            </a:r>
            <a:endParaRPr b="1" sz="26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923400" y="1017175"/>
            <a:ext cx="7297200" cy="25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Creamos un archivo dentro de nuestra carpeta JHipster un archivo con el nombre de blog.jdl y copiamos nuestro código.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 ejecutamos: con </a:t>
            </a:r>
            <a:r>
              <a:rPr b="1"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JHipster jdl blog.jdl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Seguidamente escribimos Y al overwrite y reseteamos la aplicación.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Esto da lugar a la creación de un código CRUD en nuestra aplicación, </a:t>
            </a: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dándonos</a:t>
            </a:r>
            <a:r>
              <a:rPr lang="e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capacidad de borrar, actualiza, leer y crear.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D0A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 rot="-5400000">
            <a:off x="8280300" y="4279800"/>
            <a:ext cx="902700" cy="824700"/>
          </a:xfrm>
          <a:prstGeom prst="rtTriangle">
            <a:avLst/>
          </a:prstGeom>
          <a:solidFill>
            <a:srgbClr val="425B5E"/>
          </a:solidFill>
          <a:ln cap="flat" cmpd="sng" w="9525">
            <a:solidFill>
              <a:srgbClr val="527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96467"/>
                </a:solidFill>
              </a:rPr>
              <a:t>MJET</a:t>
            </a:r>
            <a:endParaRPr>
              <a:solidFill>
                <a:srgbClr val="496467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218850" y="324075"/>
            <a:ext cx="5424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Conclusión. </a:t>
            </a:r>
            <a:endParaRPr b="1" sz="26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923400" y="1017175"/>
            <a:ext cx="7297200" cy="25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JHipster es una herramienta poderosa para desarrollar de forma rápida y eficaz aplicaciones web modernas, utilizando microservicios con Angular y Spring Boot.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Permite desplegar fácilmente aplicaciones en plataformas como Heroku, Azure y AWS, lo que hace que JHipster sea una opción muy versátil para proyectos de cualquier tamaño.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